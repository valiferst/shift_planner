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Folie mittels Klicken verschieben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de-AT" sz="2000" spc="-1" strike="noStrike">
                <a:latin typeface="Arial"/>
              </a:rPr>
              <a:t>Format der Notizen mittels Klicken bearbeiten</a:t>
            </a:r>
            <a:endParaRPr b="0" lang="de-AT" sz="2000" spc="-1" strike="noStrike"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de-AT" sz="1400" spc="-1" strike="noStrike">
                <a:latin typeface="Times New Roman"/>
              </a:rPr>
              <a:t>&lt;Kopfzeile&gt;</a:t>
            </a:r>
            <a:endParaRPr b="0" lang="de-AT" sz="1400" spc="-1" strike="noStrike"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de-AT" sz="1400" spc="-1" strike="noStrike">
                <a:latin typeface="Times New Roman"/>
              </a:rPr>
              <a:t>&lt;Datum/Uhrzeit&gt;</a:t>
            </a:r>
            <a:endParaRPr b="0" lang="de-AT" sz="1400" spc="-1" strike="noStrike">
              <a:latin typeface="Times New Roman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de-AT" sz="1400" spc="-1" strike="noStrike">
                <a:latin typeface="Times New Roman"/>
              </a:rPr>
              <a:t>&lt;Fußzeile&gt;</a:t>
            </a:r>
            <a:endParaRPr b="0" lang="de-AT" sz="1400" spc="-1" strike="noStrike">
              <a:latin typeface="Times New Roman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E07648E8-C751-4C9C-A689-EE65110967AE}" type="slidenum">
              <a:rPr b="0" lang="de-AT" sz="1400" spc="-1" strike="noStrike">
                <a:latin typeface="Times New Roman"/>
              </a:rPr>
              <a:t>&lt;Foliennummer&gt;</a:t>
            </a:fld>
            <a:endParaRPr b="0" lang="de-AT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endParaRPr b="0" lang="de-AT" sz="2000" spc="-1" strike="noStrike">
              <a:latin typeface="Arial"/>
            </a:endParaRPr>
          </a:p>
        </p:txBody>
      </p:sp>
      <p:sp>
        <p:nvSpPr>
          <p:cNvPr id="149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95832D6A-2B87-43EC-A669-03FA53D3974F}" type="slidenum">
              <a:rPr b="0" lang="de-DE" sz="1200" spc="-1" strike="noStrike">
                <a:latin typeface="Times New Roman"/>
              </a:rPr>
              <a:t>&lt;Foliennummer&gt;</a:t>
            </a:fld>
            <a:endParaRPr b="0" lang="de-AT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de-AT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2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2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6" descr=""/>
          <p:cNvPicPr/>
          <p:nvPr/>
        </p:nvPicPr>
        <p:blipFill>
          <a:blip r:embed="rId2"/>
          <a:stretch/>
        </p:blipFill>
        <p:spPr>
          <a:xfrm>
            <a:off x="0" y="0"/>
            <a:ext cx="12250440" cy="6890760"/>
          </a:xfrm>
          <a:prstGeom prst="rect">
            <a:avLst/>
          </a:prstGeom>
          <a:ln>
            <a:noFill/>
          </a:ln>
        </p:spPr>
      </p:pic>
      <p:pic>
        <p:nvPicPr>
          <p:cNvPr id="1" name="Grafik 4" descr=""/>
          <p:cNvPicPr/>
          <p:nvPr/>
        </p:nvPicPr>
        <p:blipFill>
          <a:blip r:embed="rId3"/>
          <a:srcRect l="0" t="0" r="0" b="23706"/>
          <a:stretch/>
        </p:blipFill>
        <p:spPr>
          <a:xfrm>
            <a:off x="0" y="0"/>
            <a:ext cx="12240360" cy="52527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66800" y="5533200"/>
            <a:ext cx="10561320" cy="47736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90000"/>
              </a:lnSpc>
            </a:pPr>
            <a:r>
              <a:rPr b="1" lang="de-DE" sz="2800" spc="-1" strike="noStrike">
                <a:solidFill>
                  <a:srgbClr val="003361"/>
                </a:solidFill>
                <a:latin typeface="Calibri Light"/>
              </a:rPr>
              <a:t>Mastertitelformat bearbeiten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Format des Gliederungstextes durch Klicken bearbeiten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Zweite Gliederungsebene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Dritte Gliederungsebene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4c4d4c"/>
                </a:solidFill>
                <a:latin typeface="Calibri"/>
              </a:rPr>
              <a:t>Vierte Gliederungsebene</a:t>
            </a:r>
            <a:endParaRPr b="0" lang="en-US" sz="1800" spc="-1" strike="noStrike">
              <a:solidFill>
                <a:srgbClr val="4c4d4c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c4d4c"/>
                </a:solidFill>
                <a:latin typeface="Calibri"/>
              </a:rPr>
              <a:t>Fünfte Gliederungsebene</a:t>
            </a:r>
            <a:endParaRPr b="0" lang="en-US" sz="2000" spc="-1" strike="noStrike">
              <a:solidFill>
                <a:srgbClr val="4c4d4c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c4d4c"/>
                </a:solidFill>
                <a:latin typeface="Calibri"/>
              </a:rPr>
              <a:t>Sechste Gliederungsebene</a:t>
            </a:r>
            <a:endParaRPr b="0" lang="en-US" sz="2000" spc="-1" strike="noStrike">
              <a:solidFill>
                <a:srgbClr val="4c4d4c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c4d4c"/>
                </a:solidFill>
                <a:latin typeface="Calibri"/>
              </a:rPr>
              <a:t>Siebte Gliederungsebene</a:t>
            </a:r>
            <a:endParaRPr b="0" lang="en-US" sz="20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6" descr=""/>
          <p:cNvPicPr/>
          <p:nvPr/>
        </p:nvPicPr>
        <p:blipFill>
          <a:blip r:embed="rId2"/>
          <a:stretch/>
        </p:blipFill>
        <p:spPr>
          <a:xfrm>
            <a:off x="0" y="0"/>
            <a:ext cx="12250440" cy="6890760"/>
          </a:xfrm>
          <a:prstGeom prst="rect">
            <a:avLst/>
          </a:prstGeom>
          <a:ln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body"/>
          </p:nvPr>
        </p:nvSpPr>
        <p:spPr>
          <a:xfrm>
            <a:off x="767520" y="1130040"/>
            <a:ext cx="10857600" cy="4746600"/>
          </a:xfrm>
          <a:prstGeom prst="rect">
            <a:avLst/>
          </a:prstGeom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Mastertextformat bearbeiten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Zweite Ebene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Dritte Ebene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Vierte Ebene</a:t>
            </a:r>
            <a:endParaRPr b="0" lang="en-US" sz="1800" spc="-1" strike="noStrike">
              <a:solidFill>
                <a:srgbClr val="4c4d4c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Fünfte Ebene</a:t>
            </a:r>
            <a:endParaRPr b="0" lang="en-US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/>
          </p:nvPr>
        </p:nvSpPr>
        <p:spPr>
          <a:xfrm>
            <a:off x="4914360" y="6356520"/>
            <a:ext cx="131148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1000" spc="-1" strike="noStrike">
                <a:solidFill>
                  <a:srgbClr val="a5a5a5"/>
                </a:solidFill>
                <a:latin typeface="Calibri"/>
              </a:rPr>
              <a:t>27.01.2025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6431040" y="6356520"/>
            <a:ext cx="4114440" cy="364680"/>
          </a:xfrm>
          <a:prstGeom prst="rect">
            <a:avLst/>
          </a:prstGeom>
        </p:spPr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de-AT" sz="1000" spc="-1" strike="noStrike">
                <a:solidFill>
                  <a:srgbClr val="a5a5a5"/>
                </a:solidFill>
                <a:latin typeface="Calibri Light"/>
              </a:rPr>
              <a:t>Entwicklung einer Schichtplanungs-Webapplikation (V1.0)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767520" y="332640"/>
            <a:ext cx="10865520" cy="47736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90000"/>
              </a:lnSpc>
            </a:pPr>
            <a:r>
              <a:rPr b="0" lang="de-DE" sz="2800" spc="-1" strike="noStrike">
                <a:solidFill>
                  <a:srgbClr val="003361"/>
                </a:solidFill>
                <a:latin typeface="Calibri Light"/>
              </a:rPr>
              <a:t>Mastertitelformat bearbeiten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10751040" y="6356520"/>
            <a:ext cx="882000" cy="364680"/>
          </a:xfrm>
          <a:prstGeom prst="rect">
            <a:avLst/>
          </a:prstGeom>
        </p:spPr>
        <p:txBody>
          <a:bodyPr lIns="90000" rIns="90000" tIns="45000" bIns="45000" anchor="ctr" anchorCtr="1">
            <a:noAutofit/>
          </a:bodyPr>
          <a:p>
            <a:pPr algn="r">
              <a:lnSpc>
                <a:spcPct val="100000"/>
              </a:lnSpc>
            </a:pPr>
            <a:fld id="{0356656A-88A9-4341-B8E9-5C76ABA8E786}" type="slidenum">
              <a:rPr b="0" lang="de-AT" sz="1000" spc="-1" strike="noStrike">
                <a:solidFill>
                  <a:srgbClr val="a5a5a5"/>
                </a:solidFill>
                <a:latin typeface="Calibri"/>
              </a:rPr>
              <a:t>&lt;Foliennummer&gt;</a:t>
            </a:fld>
            <a:endParaRPr b="0" lang="de-AT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rafik 6" descr=""/>
          <p:cNvPicPr/>
          <p:nvPr/>
        </p:nvPicPr>
        <p:blipFill>
          <a:blip r:embed="rId2"/>
          <a:stretch/>
        </p:blipFill>
        <p:spPr>
          <a:xfrm>
            <a:off x="0" y="0"/>
            <a:ext cx="12250440" cy="6890760"/>
          </a:xfrm>
          <a:prstGeom prst="rect">
            <a:avLst/>
          </a:prstGeom>
          <a:ln>
            <a:noFill/>
          </a:ln>
        </p:spPr>
      </p:pic>
      <p:pic>
        <p:nvPicPr>
          <p:cNvPr id="83" name="Grafik 2" descr=""/>
          <p:cNvPicPr/>
          <p:nvPr/>
        </p:nvPicPr>
        <p:blipFill>
          <a:blip r:embed="rId3"/>
          <a:stretch/>
        </p:blipFill>
        <p:spPr>
          <a:xfrm>
            <a:off x="0" y="0"/>
            <a:ext cx="12240360" cy="6885000"/>
          </a:xfrm>
          <a:prstGeom prst="rect">
            <a:avLst/>
          </a:prstGeom>
          <a:ln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 des Titeltextes durch Klicken bearbeiten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Format des Gliederungstextes durch Klicken bearbeiten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Zweite Gliederungsebene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Dritte Gliederungsebene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4c4d4c"/>
                </a:solidFill>
                <a:latin typeface="Calibri"/>
              </a:rPr>
              <a:t>Vierte Gliederungsebene</a:t>
            </a:r>
            <a:endParaRPr b="0" lang="en-US" sz="1800" spc="-1" strike="noStrike">
              <a:solidFill>
                <a:srgbClr val="4c4d4c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c4d4c"/>
                </a:solidFill>
                <a:latin typeface="Calibri"/>
              </a:rPr>
              <a:t>Fünfte Gliederungsebene</a:t>
            </a:r>
            <a:endParaRPr b="0" lang="en-US" sz="2000" spc="-1" strike="noStrike">
              <a:solidFill>
                <a:srgbClr val="4c4d4c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c4d4c"/>
                </a:solidFill>
                <a:latin typeface="Calibri"/>
              </a:rPr>
              <a:t>Sechste Gliederungsebene</a:t>
            </a:r>
            <a:endParaRPr b="0" lang="en-US" sz="2000" spc="-1" strike="noStrike">
              <a:solidFill>
                <a:srgbClr val="4c4d4c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4c4d4c"/>
                </a:solidFill>
                <a:latin typeface="Calibri"/>
              </a:rPr>
              <a:t>Siebte Gliederungsebene</a:t>
            </a:r>
            <a:endParaRPr b="0" lang="en-US" sz="2000" spc="-1" strike="noStrike">
              <a:solidFill>
                <a:srgbClr val="4c4d4c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2" descr="https://matrix1.uibk.ac.at/_matrix/media/v3/download/uibk.ac.at/cCdXRVJebsgvjagZywYEbURw"/>
          <p:cNvPicPr/>
          <p:nvPr/>
        </p:nvPicPr>
        <p:blipFill>
          <a:blip r:embed="rId1"/>
          <a:stretch/>
        </p:blipFill>
        <p:spPr>
          <a:xfrm>
            <a:off x="2160" y="270000"/>
            <a:ext cx="12187440" cy="6857640"/>
          </a:xfrm>
          <a:prstGeom prst="rect">
            <a:avLst/>
          </a:prstGeom>
          <a:ln>
            <a:noFill/>
          </a:ln>
        </p:spPr>
      </p:pic>
      <p:sp>
        <p:nvSpPr>
          <p:cNvPr id="129" name="TextShape 1"/>
          <p:cNvSpPr txBox="1"/>
          <p:nvPr/>
        </p:nvSpPr>
        <p:spPr>
          <a:xfrm>
            <a:off x="766800" y="5533200"/>
            <a:ext cx="10561320" cy="4773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</a:pPr>
            <a:r>
              <a:rPr b="1" lang="de-AT" sz="2800" spc="-1" strike="noStrike">
                <a:solidFill>
                  <a:srgbClr val="003361"/>
                </a:solidFill>
                <a:latin typeface="Calibri Light"/>
              </a:rPr>
              <a:t>Entwicklung einer Schichtplanungs-Webapplikation (V1.0)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6084720" y="-11520"/>
            <a:ext cx="184320" cy="5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CustomShape 3"/>
          <p:cNvSpPr/>
          <p:nvPr/>
        </p:nvSpPr>
        <p:spPr>
          <a:xfrm>
            <a:off x="766800" y="6082560"/>
            <a:ext cx="11255040" cy="5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rmAutofit fontScale="91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de-AT" sz="1500" spc="-1" strike="noStrike">
                <a:solidFill>
                  <a:srgbClr val="4c4d4c"/>
                </a:solidFill>
                <a:latin typeface="Calibri"/>
              </a:rPr>
              <a:t>Universität Innsbruck, PS Softwarearchitektur, Semesterprojekt WS24</a:t>
            </a:r>
            <a:endParaRPr b="0" lang="de-AT" sz="15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de-AT" sz="1500" spc="-1" strike="noStrike">
                <a:solidFill>
                  <a:srgbClr val="4c4d4c"/>
                </a:solidFill>
                <a:latin typeface="Calibri"/>
              </a:rPr>
              <a:t>Valentin Ferst, Rasmus Hansen, Lucas Henze, Leonhard Pätz, Hannah Veit und Ronja Wackerle </a:t>
            </a:r>
            <a:endParaRPr b="0" lang="de-AT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767520" y="1130040"/>
            <a:ext cx="10857600" cy="4746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Generell: Anfangs sehr schwierig ohne Erfahrung das ganze Projekt zeitlich zu planen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Git Workflow: Issues -&gt; Branch -&gt; Merge Requests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Guter Überblick durch Tags und Organisation in GIT 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Erste Aufteilung nach Entitäten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Erstellung der zugehörigen Klassen (Services, Controller, etc.)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Beginn mit backend, da es im ersten Moment greifbarer war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Spätere Aufteilung in Frontend und Backend Teams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 </a:t>
            </a: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Frontend war zu Beginn nicht einschätzbar -&gt; früheres Beginnen wäre sinnvoll gewesen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Asynchrone „Arbeitszeiten“ der Student:innen als Kommunikationshindernis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33" name="TextShape 2"/>
          <p:cNvSpPr txBox="1"/>
          <p:nvPr/>
        </p:nvSpPr>
        <p:spPr>
          <a:xfrm>
            <a:off x="4914360" y="6356520"/>
            <a:ext cx="131148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1000" spc="-1" strike="noStrike">
                <a:solidFill>
                  <a:srgbClr val="a5a5a5"/>
                </a:solidFill>
                <a:latin typeface="Calibri"/>
              </a:rPr>
              <a:t>27.01.2025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134" name="TextShape 3"/>
          <p:cNvSpPr txBox="1"/>
          <p:nvPr/>
        </p:nvSpPr>
        <p:spPr>
          <a:xfrm>
            <a:off x="643104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de-AT" sz="1000" spc="-1" strike="noStrike">
                <a:solidFill>
                  <a:srgbClr val="a5a5a5"/>
                </a:solidFill>
                <a:latin typeface="Calibri Light"/>
              </a:rPr>
              <a:t>Entwicklung einer Schichtplanungs-Webapplikation (V1.0)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135" name="TextShape 4"/>
          <p:cNvSpPr txBox="1"/>
          <p:nvPr/>
        </p:nvSpPr>
        <p:spPr>
          <a:xfrm>
            <a:off x="767520" y="332640"/>
            <a:ext cx="10865520" cy="4773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</a:pPr>
            <a:r>
              <a:rPr b="0" lang="de-DE" sz="2800" spc="-1" strike="noStrike">
                <a:solidFill>
                  <a:srgbClr val="003361"/>
                </a:solidFill>
                <a:latin typeface="Calibri Light"/>
              </a:rPr>
              <a:t>Planung &amp; Projektmanagement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TextShape 5"/>
          <p:cNvSpPr txBox="1"/>
          <p:nvPr/>
        </p:nvSpPr>
        <p:spPr>
          <a:xfrm>
            <a:off x="10751040" y="6356520"/>
            <a:ext cx="88200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 anchorCtr="1">
            <a:noAutofit/>
          </a:bodyPr>
          <a:p>
            <a:pPr algn="r">
              <a:lnSpc>
                <a:spcPct val="100000"/>
              </a:lnSpc>
            </a:pPr>
            <a:fld id="{C20D47E6-5BB9-46DF-A4EB-829CA831B774}" type="slidenum">
              <a:rPr b="0" lang="de-AT" sz="1000" spc="-1" strike="noStrike">
                <a:solidFill>
                  <a:srgbClr val="a5a5a5"/>
                </a:solidFill>
                <a:latin typeface="Calibri"/>
              </a:rPr>
              <a:t>&lt;Foliennummer&gt;</a:t>
            </a:fld>
            <a:endParaRPr b="0" lang="de-AT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Shape 1"/>
          <p:cNvSpPr txBox="1"/>
          <p:nvPr/>
        </p:nvSpPr>
        <p:spPr>
          <a:xfrm>
            <a:off x="767520" y="1130040"/>
            <a:ext cx="10857600" cy="4746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Tests sind sinnvoll solange nichts mehr an den Entitäten verändert wird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Probleme bei der Erstellung von Tests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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Konzentration auf andere Teile des Projekts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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Code Qualität wurde nicht gezielt verbessert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DE" sz="1800" spc="-1" strike="noStrike">
                <a:solidFill>
                  <a:srgbClr val="4c4d4c"/>
                </a:solidFill>
                <a:latin typeface="Calibri"/>
              </a:rPr>
              <a:t>SonarCube hat teilweise beim Implementieren unterstützt, was hilfreich war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38" name="TextShape 2"/>
          <p:cNvSpPr txBox="1"/>
          <p:nvPr/>
        </p:nvSpPr>
        <p:spPr>
          <a:xfrm>
            <a:off x="4914360" y="6356520"/>
            <a:ext cx="131148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1000" spc="-1" strike="noStrike">
                <a:solidFill>
                  <a:srgbClr val="a5a5a5"/>
                </a:solidFill>
                <a:latin typeface="Calibri"/>
              </a:rPr>
              <a:t>27.01.2025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139" name="TextShape 3"/>
          <p:cNvSpPr txBox="1"/>
          <p:nvPr/>
        </p:nvSpPr>
        <p:spPr>
          <a:xfrm>
            <a:off x="643104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de-AT" sz="1000" spc="-1" strike="noStrike">
                <a:solidFill>
                  <a:srgbClr val="a5a5a5"/>
                </a:solidFill>
                <a:latin typeface="Calibri Light"/>
              </a:rPr>
              <a:t>Entwicklung einer Schichtplanungs-Webapplikation (V1.0)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140" name="TextShape 4"/>
          <p:cNvSpPr txBox="1"/>
          <p:nvPr/>
        </p:nvSpPr>
        <p:spPr>
          <a:xfrm>
            <a:off x="767520" y="332640"/>
            <a:ext cx="10865520" cy="4773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</a:pPr>
            <a:r>
              <a:rPr b="0" lang="de-AT" sz="2800" spc="-1" strike="noStrike">
                <a:solidFill>
                  <a:srgbClr val="003361"/>
                </a:solidFill>
                <a:latin typeface="Calibri Light"/>
              </a:rPr>
              <a:t>Code Qualität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TextShape 5"/>
          <p:cNvSpPr txBox="1"/>
          <p:nvPr/>
        </p:nvSpPr>
        <p:spPr>
          <a:xfrm>
            <a:off x="10751040" y="6356520"/>
            <a:ext cx="88200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 anchorCtr="1">
            <a:noAutofit/>
          </a:bodyPr>
          <a:p>
            <a:pPr algn="r">
              <a:lnSpc>
                <a:spcPct val="100000"/>
              </a:lnSpc>
            </a:pPr>
            <a:fld id="{CA666664-BC2A-41F3-9D15-E1A516E63498}" type="slidenum">
              <a:rPr b="0" lang="de-AT" sz="1000" spc="-1" strike="noStrike">
                <a:solidFill>
                  <a:srgbClr val="a5a5a5"/>
                </a:solidFill>
                <a:latin typeface="Calibri"/>
              </a:rPr>
              <a:t>&lt;Foliennummer&gt;</a:t>
            </a:fld>
            <a:endParaRPr b="0" lang="de-AT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767520" y="1130040"/>
            <a:ext cx="10857600" cy="474660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Noch einige Unklarheiten besonders bzgl. des Frontends: z.B. Wiederverwendbarkeit durch Generics/Abstraktion?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 </a:t>
            </a: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Änderungen beim nächsten Projekt: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2er Teams die sich gegenseitig reviewen und ähnliche Sachen entwickeln, statt Einzelverantwortung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Dummy Entitäten von Anfang an als Basis erstellen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Von Frontend -&gt; Backend entwickeln statt vom Backend -&gt; Frontend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Allgemeines Feedback: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Frühere Kommunikation der Minimalanforderungen zum Bestehen 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Postman früher bekannt machen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Projekt als Übungsaufgabe früher im Semester -&gt; früherer Kontakt mit dem Aufbau 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 marL="343080" indent="-342720">
              <a:lnSpc>
                <a:spcPct val="90000"/>
              </a:lnSpc>
              <a:spcBef>
                <a:spcPts val="1001"/>
              </a:spcBef>
              <a:buClr>
                <a:srgbClr val="4c4d4c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de-AT" sz="1800" spc="-1" strike="noStrike">
                <a:solidFill>
                  <a:srgbClr val="4c4d4c"/>
                </a:solidFill>
                <a:latin typeface="Calibri"/>
                <a:ea typeface="Calibri"/>
              </a:rPr>
              <a:t>Übungszettel zum Frontend</a:t>
            </a: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de-DE" sz="1800" spc="-1" strike="noStrike">
              <a:solidFill>
                <a:srgbClr val="4c4d4c"/>
              </a:solidFill>
              <a:latin typeface="Calibri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4914360" y="6356520"/>
            <a:ext cx="131148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</a:pPr>
            <a:r>
              <a:rPr b="0" lang="de-DE" sz="1000" spc="-1" strike="noStrike">
                <a:solidFill>
                  <a:srgbClr val="a5a5a5"/>
                </a:solidFill>
                <a:latin typeface="Calibri"/>
              </a:rPr>
              <a:t>27.01.2025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144" name="TextShape 3"/>
          <p:cNvSpPr txBox="1"/>
          <p:nvPr/>
        </p:nvSpPr>
        <p:spPr>
          <a:xfrm>
            <a:off x="643104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 anchorCtr="1">
            <a:noAutofit/>
          </a:bodyPr>
          <a:p>
            <a:pPr algn="ctr">
              <a:lnSpc>
                <a:spcPct val="100000"/>
              </a:lnSpc>
            </a:pPr>
            <a:r>
              <a:rPr b="0" lang="de-AT" sz="1000" spc="-1" strike="noStrike">
                <a:solidFill>
                  <a:srgbClr val="a5a5a5"/>
                </a:solidFill>
                <a:latin typeface="Calibri Light"/>
              </a:rPr>
              <a:t>Entwicklung einer Schichtplanungs-Webapplikation (V1.0)</a:t>
            </a:r>
            <a:endParaRPr b="0" lang="de-AT" sz="1000" spc="-1" strike="noStrike">
              <a:latin typeface="Times New Roman"/>
            </a:endParaRPr>
          </a:p>
        </p:txBody>
      </p:sp>
      <p:sp>
        <p:nvSpPr>
          <p:cNvPr id="145" name="TextShape 4"/>
          <p:cNvSpPr txBox="1"/>
          <p:nvPr/>
        </p:nvSpPr>
        <p:spPr>
          <a:xfrm>
            <a:off x="767520" y="332640"/>
            <a:ext cx="10865520" cy="47736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>
              <a:lnSpc>
                <a:spcPct val="90000"/>
              </a:lnSpc>
            </a:pPr>
            <a:r>
              <a:rPr b="0" lang="de-DE" sz="2800" spc="-1" strike="noStrike">
                <a:solidFill>
                  <a:srgbClr val="003361"/>
                </a:solidFill>
                <a:latin typeface="Calibri Light"/>
              </a:rPr>
              <a:t>Fazit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TextShape 5"/>
          <p:cNvSpPr txBox="1"/>
          <p:nvPr/>
        </p:nvSpPr>
        <p:spPr>
          <a:xfrm>
            <a:off x="10751040" y="6356520"/>
            <a:ext cx="882000" cy="3646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 anchor="ctr" anchorCtr="1">
            <a:noAutofit/>
          </a:bodyPr>
          <a:p>
            <a:pPr algn="r">
              <a:lnSpc>
                <a:spcPct val="100000"/>
              </a:lnSpc>
            </a:pPr>
            <a:fld id="{1B60D9D6-E143-4150-A872-9B18FFCAA567}" type="slidenum">
              <a:rPr b="0" lang="de-AT" sz="1000" spc="-1" strike="noStrike">
                <a:solidFill>
                  <a:srgbClr val="a5a5a5"/>
                </a:solidFill>
                <a:latin typeface="Calibri"/>
              </a:rPr>
              <a:t>&lt;Foliennummer&gt;</a:t>
            </a:fld>
            <a:endParaRPr b="0" lang="de-AT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DocumentSettings xmlns:xsd="http://www.w3.org/2001/XMLSchema" xmlns:xsi="http://www.w3.org/2001/XMLSchema-instance" xmlns="http://www.zhaw.ch/AccessibilityAddIn">
  <CheckReadingOrder>true</CheckReadingOrder>
  <CheckTableHeader>true</CheckTableHeader>
  <CheckSlideTitle>true</CheckSlideTitle>
  <CheckLanguageSetting>true</CheckLanguageSetting>
  <CheckAltText>true</CheckAltText>
  <CheckTextSize>false</CheckTextSize>
  <CheckScreenTip>false</CheckScreenTip>
  <ShowShapeNameColumn>false</ShowShapeNameColumn>
  <ShowIssueDescription>true</ShowIssueDescription>
</DocumentSettings>
</file>

<file path=customXml/itemProps1.xml><?xml version="1.0" encoding="utf-8"?>
<ds:datastoreItem xmlns:ds="http://schemas.openxmlformats.org/officeDocument/2006/customXml" ds:itemID="{61E5F9E1-5A31-44B6-82D3-CDBA1960149B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Application>LibreOffice/6.4.7.2$Linux_X86_64 LibreOffice_project/40$Build-2</Application>
  <Words>261</Words>
  <Paragraphs>46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2017-06-06T07:41:45Z</dcterms:created>
  <dc:creator>Microsoft Office-Anwender</dc:creator>
  <dc:description/>
  <dc:language>de-AT</dc:language>
  <cp:lastModifiedBy/>
  <dcterms:modified xsi:type="dcterms:W3CDTF">2025-01-26T21:10:20Z</dcterms:modified>
  <cp:revision>2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Breitbild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5</vt:i4>
  </property>
</Properties>
</file>